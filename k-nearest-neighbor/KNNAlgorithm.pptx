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74" r:id="rId3"/>
    <p:sldId id="275" r:id="rId4"/>
    <p:sldId id="264" r:id="rId5"/>
    <p:sldId id="265" r:id="rId6"/>
    <p:sldId id="266" r:id="rId7"/>
    <p:sldId id="267" r:id="rId8"/>
    <p:sldId id="271" r:id="rId9"/>
    <p:sldId id="268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0424B-6B6F-4095-8430-8E17AED6A88F}" type="datetimeFigureOut">
              <a:rPr lang="en-US" smtClean="0"/>
              <a:t>7/16/2024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5729A-3C48-4E1D-8E71-DFE2F37C82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918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4FC7A-AA64-4692-B825-8AB9B300AC8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807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75D0-6F15-4150-8206-969746165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C9A3E-97CD-45B3-B074-7D93EBC73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D34D4-28DE-4EEA-B9C2-8BB857DD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5CB6D-8F40-43F6-9C9A-1D8038E3137C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71A0E-DA28-4A81-BDA8-AAE99F50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FEA5D-5ADE-4E22-A675-B37BD892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6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9C0A-ACFD-433E-9225-D6669419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B4ABC-A77D-4B35-9C03-2F8B2BC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FD1B4-1D83-4581-94D8-935CD294A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90C4-9890-4CE1-B067-2B00E1759FBA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86E06-4DE3-411A-80BC-BF12E568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A3AA2-F6EB-4539-8CB9-81CB3A65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27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CA5C-E7FF-4232-BD80-1009FBBAD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F34BB-B0CE-489D-AB2D-1E96EFEA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87052-8905-44C1-A7DF-25326269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EB323-9E28-4279-B85D-B591AEC4F0CE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EFA3E-1110-4274-BD6E-724F63108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2FA45-954A-4A15-B359-3CF18294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9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A184-CBC7-4A85-B5A9-52CDCC201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31470-62B9-4DAB-8F7F-A941303B6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DC6CB-ACB9-47EE-BB5E-E9FBB4926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31FA7-213A-4707-94F7-A8BADA012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57287-5D76-4F86-B137-B780AA14CE77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8732-8E74-4E1E-AC5B-8ADDCCEB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AC260-4B1A-4A51-AA59-79304721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60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2231-B480-4E15-A7F3-DEC069205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4158F-2A1A-4954-BF91-D49B78446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1A37D-5DCA-4C76-95FD-44F5A2D77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C3A3AC-25E3-475A-A029-9F5BBB956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1721F-B43E-4354-B1DF-CB49226F0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7E4C67-E43C-4C39-8981-C79CE042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0BEF2-BF0C-4765-9FAE-E13AC46F1739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5FC02-2206-4E33-A27A-098D172C1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BE172-5782-4F3B-8A71-5EDC5134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128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49576-5BE9-4104-BF3F-C2D1AADBF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2E8B3-7226-4D4A-81D1-C330F27F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5BCB1-781E-4EB9-80A7-2B261EA83FB0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ABF6B-B812-4036-B590-9A0F2154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32509-7B44-4ACC-B289-47462F25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16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533B1-A1F0-451E-A5E1-2AF33E326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6BA5D-3B96-4498-96FD-D228FDCCA4E4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E8358-0C82-406E-BE69-FD1BBAF4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89300-0706-4CD8-85F6-FBC21ECA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10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3C3B-F303-4F69-AA15-22C7A4F1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6AC27-D5DE-4A0E-BD4E-0C511E621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7F85B-CF81-4BB4-937D-B089FF412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3D157-B54D-409B-A255-149A6EB99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B5E7-0F2C-4B3B-B2E5-2529DCC0E862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9280E-1064-4379-8C2C-0CC68C60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65F0B-8615-49D2-B903-A70DA5ED5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36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8BFE-0364-4DEC-9573-E231AD7C4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9FCC6-6821-4A66-B312-A6B23AB72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48792-A94B-4F7F-9AA0-EA9CD552E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0290E3-A069-415C-B0CF-DDD43754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DB0B5-CE16-4D0D-922C-2BAF9794EE21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A6F59-56EF-4928-AC41-057CD6A2C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C68DB-8C8E-431A-99F2-D4B9F8A8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70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149C-AA29-4E2B-AAB4-C62CE9FE2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6623E6-005E-43E2-9598-CF35F97A44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5A662-E7FC-48F5-810A-E596C44A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FCA48-7006-472C-A3A1-9AAABED80689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1D723-2574-456C-8E90-FEA933E3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8E179-6C28-4DD4-A52E-4B5CAFE5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8ACF3C-E904-4C3C-87AC-E2B6E73F3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274AF-CFD6-4B27-AFB2-61712276CD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4742B-5D83-4336-B5FC-A822ECB3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AEBE-46FB-4232-BBF8-6EC399E7A56D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74D31-2B22-4FEF-A408-7D7BD09AC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8C333-124B-459A-BE0F-07D4FBE9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6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2F3CF0-FE60-48CE-8991-58A13C37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A81F5-3B84-407D-A646-770A4EA92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02B99-E273-443A-A234-1B612D4D7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9BD22-C485-4BEC-9895-F832812721C3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606BD-5577-48B9-83EB-DB9C55596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323C3-A03E-4BC3-9D25-4418085E7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0CC81-F9F8-4D33-9454-81B48D2C7A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DA34B-1DF2-41AA-A417-F829B59A6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K-Nearest Neighbors (KNN)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5FF2F-EBE1-4D8E-8F57-6625B5F721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37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ECCF-0D85-443E-B8F0-589638CA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Based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3C289-E6E8-4C5C-BF9F-9C7106A6A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Instance-based learning</a:t>
            </a:r>
            <a:r>
              <a:rPr lang="en-US" dirty="0"/>
              <a:t> (also known as memory-based learning or lazy learning) refers to Machine Learning systems that memorize training examples and generalize to new instances based on a similarity measure.</a:t>
            </a:r>
          </a:p>
          <a:p>
            <a:r>
              <a:rPr lang="en-US" b="1" dirty="0"/>
              <a:t>Key Characteristics:</a:t>
            </a:r>
          </a:p>
          <a:p>
            <a:pPr lvl="1"/>
            <a:r>
              <a:rPr lang="en-US" dirty="0"/>
              <a:t>Hypotheses are built from training instances.</a:t>
            </a:r>
          </a:p>
          <a:p>
            <a:pPr lvl="1"/>
            <a:r>
              <a:rPr lang="en-US" dirty="0"/>
              <a:t>Processing is delayed until a new instance must be classified.</a:t>
            </a:r>
          </a:p>
          <a:p>
            <a:pPr lvl="1"/>
            <a:r>
              <a:rPr lang="en-US" dirty="0"/>
              <a:t>Time complexity depends on the size of training data (worst-case complexity: O(n)).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C3619-9879-40AE-A224-896B74396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6260-4DC8-4EFB-825C-FC39139042A0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40813-08BC-4A18-BB1E-FA058799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7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7744-9223-4DE2-99E9-59E7D5653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Based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57ADA-73F3-405B-A655-6861901E5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Advantages:</a:t>
            </a:r>
          </a:p>
          <a:p>
            <a:pPr lvl="1"/>
            <a:r>
              <a:rPr lang="en-US" dirty="0"/>
              <a:t>Local approximations can be made to the target function.</a:t>
            </a:r>
          </a:p>
          <a:p>
            <a:pPr lvl="1"/>
            <a:r>
              <a:rPr lang="en-US" dirty="0"/>
              <a:t>Easily adapts to new data collected over time.</a:t>
            </a:r>
          </a:p>
          <a:p>
            <a:r>
              <a:rPr lang="en-US" b="1" dirty="0"/>
              <a:t>Disadvantages:</a:t>
            </a:r>
          </a:p>
          <a:p>
            <a:pPr lvl="1"/>
            <a:r>
              <a:rPr lang="en-US" dirty="0"/>
              <a:t>High classification costs.</a:t>
            </a:r>
          </a:p>
          <a:p>
            <a:pPr lvl="1"/>
            <a:r>
              <a:rPr lang="en-US" dirty="0"/>
              <a:t>Requires a large amount of memory for data storage.</a:t>
            </a:r>
          </a:p>
          <a:p>
            <a:pPr lvl="1"/>
            <a:r>
              <a:rPr lang="en-US" dirty="0"/>
              <a:t>Each query involves starting identification from scratch.</a:t>
            </a:r>
          </a:p>
          <a:p>
            <a:r>
              <a:rPr lang="en-US" b="1" dirty="0"/>
              <a:t>Common Algorithms:</a:t>
            </a:r>
          </a:p>
          <a:p>
            <a:pPr lvl="1"/>
            <a:r>
              <a:rPr lang="en-US" dirty="0"/>
              <a:t>K Nearest Neighbor (KNN)</a:t>
            </a:r>
          </a:p>
          <a:p>
            <a:pPr lvl="1"/>
            <a:r>
              <a:rPr lang="en-US" dirty="0"/>
              <a:t>Self-Organizing Map (SOM)</a:t>
            </a:r>
          </a:p>
          <a:p>
            <a:pPr lvl="1"/>
            <a:r>
              <a:rPr lang="en-US" dirty="0"/>
              <a:t>Learning Vector Quantization (LVQ)</a:t>
            </a:r>
          </a:p>
          <a:p>
            <a:pPr lvl="1"/>
            <a:r>
              <a:rPr lang="en-US" dirty="0"/>
              <a:t>Locally Weighted Learning (LWL)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0844A-96C1-414F-894C-289976CA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90C4-9890-4CE1-B067-2B00E1759FBA}" type="datetime1">
              <a:rPr lang="en-US" smtClean="0"/>
              <a:t>7/16/2024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8DBF7-29AE-4A61-AF71-2F886FB1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0CC81-F9F8-4D33-9454-81B48D2C7AA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190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KNN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Based on </a:t>
            </a:r>
            <a:r>
              <a:rPr lang="en-US" b="1" u="sng" dirty="0">
                <a:solidFill>
                  <a:srgbClr val="0070C0"/>
                </a:solidFill>
              </a:rPr>
              <a:t>feature similarity</a:t>
            </a:r>
          </a:p>
          <a:p>
            <a:r>
              <a:rPr lang="en-US" dirty="0"/>
              <a:t>K-Nearest Neighbor is a </a:t>
            </a:r>
          </a:p>
          <a:p>
            <a:pPr lvl="1"/>
            <a:r>
              <a:rPr lang="en-US" b="1" dirty="0"/>
              <a:t>Supervised </a:t>
            </a:r>
          </a:p>
          <a:p>
            <a:pPr lvl="1"/>
            <a:r>
              <a:rPr lang="en-US" b="1" dirty="0"/>
              <a:t>Non-parametric</a:t>
            </a:r>
          </a:p>
          <a:p>
            <a:pPr lvl="1"/>
            <a:r>
              <a:rPr lang="en-US" b="1" dirty="0"/>
              <a:t>Lazy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035E-7022-417F-B400-49721109637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5C896-5DD9-40A6-983E-5234FE02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E81-76D8-4700-93C2-712C03456495}" type="datetime1">
              <a:rPr lang="en-US" smtClean="0"/>
              <a:t>7/16/2024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79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you Need?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with labeled data</a:t>
            </a:r>
          </a:p>
          <a:p>
            <a:r>
              <a:rPr lang="en-US" dirty="0"/>
              <a:t>Distance Metric</a:t>
            </a:r>
          </a:p>
          <a:p>
            <a:r>
              <a:rPr lang="en-US" dirty="0"/>
              <a:t>Value of k (Number of Neighbor)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035E-7022-417F-B400-49721109637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BAB25-CF88-431E-900F-4CDAC68C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0A8B4-B32B-4703-A193-A3A5EF916A7C}" type="datetime1">
              <a:rPr lang="en-US" smtClean="0"/>
              <a:t>7/16/2024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601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Distance Metric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Euclidean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𝑥𝑖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𝑦𝑖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aseline="30000" dirty="0"/>
              </a:p>
              <a:p>
                <a:r>
                  <a:rPr lang="en-US" dirty="0"/>
                  <a:t>Manhattan</a:t>
                </a:r>
              </a:p>
              <a:p>
                <a:pPr marL="457200" lvl="1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𝑑𝑖𝑠𝑡𝑎𝑛𝑐𝑒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𝑥𝑖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baseline="-25000" dirty="0"/>
              </a:p>
              <a:p>
                <a:r>
                  <a:rPr lang="en-US" dirty="0"/>
                  <a:t>Minkowski Distance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𝑑𝑖𝑠𝑡𝑎𝑛𝑐𝑒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baseline="3000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035E-7022-417F-B400-49721109637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44E1D-D6D8-4BF1-B5BC-ADA0BB7C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601D1-5F18-41CA-949E-09558475AEC6}" type="datetime1">
              <a:rPr lang="en-US" smtClean="0"/>
              <a:t>7/16/2024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755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Start</a:t>
            </a:r>
          </a:p>
          <a:p>
            <a:r>
              <a:rPr lang="en-US"/>
              <a:t>Take a data point for which prediction have to be made</a:t>
            </a:r>
          </a:p>
          <a:p>
            <a:r>
              <a:rPr lang="en-US"/>
              <a:t>Calculate its distance with all the data points in training data set</a:t>
            </a:r>
          </a:p>
          <a:p>
            <a:r>
              <a:rPr lang="en-US"/>
              <a:t>Sort the result in ascending order</a:t>
            </a:r>
          </a:p>
          <a:p>
            <a:r>
              <a:rPr lang="en-US"/>
              <a:t>Take first “K” data points</a:t>
            </a:r>
          </a:p>
          <a:p>
            <a:r>
              <a:rPr lang="en-US"/>
              <a:t>Take mode/mean for classification/regression</a:t>
            </a:r>
          </a:p>
          <a:p>
            <a:r>
              <a:rPr lang="en-US"/>
              <a:t>Stop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035E-7022-417F-B400-49721109637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7E05C-F5B8-49BE-8587-A1C8A42A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7FA62-BBFC-4C17-A5F6-7F780C6900DD}" type="datetime1">
              <a:rPr lang="en-US" smtClean="0"/>
              <a:t>7/16/2024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705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Visual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035E-7022-417F-B400-49721109637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1371601"/>
            <a:ext cx="5562600" cy="517037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91D31-22CC-47FF-B2F0-E4FD0D71D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ACD8-C09F-476B-984C-2611A06295F0}" type="datetime1">
              <a:rPr lang="en-US" smtClean="0"/>
              <a:t>7/16/2024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7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Numerical Example: The Problem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5650669"/>
              </p:ext>
            </p:extLst>
          </p:nvPr>
        </p:nvGraphicFramePr>
        <p:xfrm>
          <a:off x="1828800" y="2286001"/>
          <a:ext cx="5181600" cy="243839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231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7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7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Height (in)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Weight (lbs)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Age (years)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T-shirt Size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180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71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190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0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68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150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035E-7022-417F-B400-49721109637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057400" y="1600200"/>
            <a:ext cx="3733800" cy="369332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Available Training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6200" y="2286001"/>
            <a:ext cx="2590800" cy="2031325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/>
              <a:t>Make Prediction of T-shirt Size for a person with</a:t>
            </a:r>
          </a:p>
          <a:p>
            <a:r>
              <a:rPr lang="en-US" b="1" dirty="0"/>
              <a:t>Height = 75</a:t>
            </a:r>
          </a:p>
          <a:p>
            <a:r>
              <a:rPr lang="en-US" b="1" dirty="0"/>
              <a:t>Weight = 250</a:t>
            </a:r>
          </a:p>
          <a:p>
            <a:r>
              <a:rPr lang="en-US" b="1" dirty="0"/>
              <a:t>Age = 40</a:t>
            </a:r>
          </a:p>
          <a:p>
            <a:r>
              <a:rPr lang="en-US" b="1" dirty="0"/>
              <a:t>Use k=3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EE0B0F1-BB97-40BB-9DC4-BA618F55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5ADEC-3DAA-40A2-BB69-B42FCEA3CBD2}" type="datetime1">
              <a:rPr lang="en-US" smtClean="0"/>
              <a:t>7/16/2024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10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Numerical Example: Distance Calculation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 Calculation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6662721" y="1728788"/>
            <a:ext cx="5183188" cy="823912"/>
          </a:xfrm>
        </p:spPr>
        <p:txBody>
          <a:bodyPr/>
          <a:lstStyle/>
          <a:p>
            <a:r>
              <a:rPr lang="en-US" dirty="0"/>
              <a:t>Sorting the Result</a:t>
            </a:r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473315237"/>
              </p:ext>
            </p:extLst>
          </p:nvPr>
        </p:nvGraphicFramePr>
        <p:xfrm>
          <a:off x="6662721" y="2590801"/>
          <a:ext cx="4425489" cy="1975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6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0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25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Height (in)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Weight (</a:t>
                      </a:r>
                      <a:r>
                        <a:rPr lang="en-US" sz="1400" b="1" u="none" strike="noStrike" dirty="0" err="1">
                          <a:effectLst/>
                        </a:rPr>
                        <a:t>lbs</a:t>
                      </a:r>
                      <a:r>
                        <a:rPr lang="en-US" sz="1400" b="1" u="none" strike="noStrike" dirty="0">
                          <a:effectLst/>
                        </a:rPr>
                        <a:t>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Age (years)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 err="1">
                          <a:effectLst/>
                        </a:rPr>
                        <a:t>Tshirt</a:t>
                      </a:r>
                      <a:r>
                        <a:rPr lang="en-US" sz="1400" b="1" u="none" strike="noStrike" dirty="0">
                          <a:effectLst/>
                        </a:rPr>
                        <a:t> Size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Distance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25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25.57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25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40.42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25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50.00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25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60.96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25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70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180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70.89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25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101.36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25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111.31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259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121.80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3" marR="6093" marT="6093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035E-7022-417F-B400-497211096373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42435209"/>
              </p:ext>
            </p:extLst>
          </p:nvPr>
        </p:nvGraphicFramePr>
        <p:xfrm>
          <a:off x="1031152" y="2552700"/>
          <a:ext cx="4498128" cy="19750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8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9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63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1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Height (in)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Weight (</a:t>
                      </a:r>
                      <a:r>
                        <a:rPr lang="en-US" sz="1400" b="1" u="none" strike="noStrike" dirty="0" err="1">
                          <a:effectLst/>
                        </a:rPr>
                        <a:t>lbs</a:t>
                      </a:r>
                      <a:r>
                        <a:rPr lang="en-US" sz="1400" b="1" u="none" strike="noStrike" dirty="0">
                          <a:effectLst/>
                        </a:rPr>
                        <a:t>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Age (years)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>
                          <a:effectLst/>
                        </a:rPr>
                        <a:t>Tshirt</a:t>
                      </a:r>
                      <a:r>
                        <a:rPr lang="en-US" sz="1400" b="1" u="none" strike="noStrike" dirty="0">
                          <a:effectLst/>
                        </a:rPr>
                        <a:t> Size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Distance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1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25.57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1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111.31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1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180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70.89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1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50.00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1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121.80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1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40.42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1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60.96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17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101.36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91" marR="6091" marT="6091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DCEFD-65B8-45F6-86E4-D1BB0CD12032}" type="datetime1">
              <a:rPr lang="en-US" smtClean="0"/>
              <a:t>7/16/2024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64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427" y="236537"/>
            <a:ext cx="9095173" cy="1096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Numerical Example: Select K data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9035E-7022-417F-B400-497211096373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5203012"/>
              </p:ext>
            </p:extLst>
          </p:nvPr>
        </p:nvGraphicFramePr>
        <p:xfrm>
          <a:off x="1981200" y="1787524"/>
          <a:ext cx="505460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Height (in)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Weight (lbs)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Age (years)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Tshirt Size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Distance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25.57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40.42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50.00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190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60.96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180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70.89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150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101.36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67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140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111.31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69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130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121.80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105400" y="1981200"/>
            <a:ext cx="1930400" cy="6858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438400" y="4343401"/>
            <a:ext cx="4038600" cy="646331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First K=3 data points T-shirt size is “L” so the predicted T-shirt size is “L”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F47AD-E2BB-4B1F-A060-2B6438819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A4504-2C53-40EB-93EB-36C573A8EDB8}" type="datetime1">
              <a:rPr lang="en-US" smtClean="0"/>
              <a:t>7/16/2024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18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565</Words>
  <Application>Microsoft Office PowerPoint</Application>
  <PresentationFormat>Widescreen</PresentationFormat>
  <Paragraphs>250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K-Nearest Neighbors (KNN)</vt:lpstr>
      <vt:lpstr>Instance Based Learning</vt:lpstr>
      <vt:lpstr>Instance Based Learning </vt:lpstr>
      <vt:lpstr>The KNN Algorithm</vt:lpstr>
      <vt:lpstr>What do you Need?</vt:lpstr>
      <vt:lpstr>The Distance Metric</vt:lpstr>
      <vt:lpstr>The Algorithm</vt:lpstr>
      <vt:lpstr>A Visual Example</vt:lpstr>
      <vt:lpstr>A Numerical Example: The Problem</vt:lpstr>
      <vt:lpstr>A Numerical Example: Distance Calculation</vt:lpstr>
      <vt:lpstr>A Numerical Example: Select K data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K-Nearest Neighbors (KNN)</dc:title>
  <dc:creator>Dipesh Poudel</dc:creator>
  <cp:lastModifiedBy>Dipesh Poudel</cp:lastModifiedBy>
  <cp:revision>5</cp:revision>
  <dcterms:created xsi:type="dcterms:W3CDTF">2024-07-16T15:25:37Z</dcterms:created>
  <dcterms:modified xsi:type="dcterms:W3CDTF">2024-07-16T15:37:50Z</dcterms:modified>
</cp:coreProperties>
</file>