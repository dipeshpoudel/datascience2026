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391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9" r:id="rId15"/>
    <p:sldId id="420" r:id="rId16"/>
    <p:sldId id="421" r:id="rId17"/>
    <p:sldId id="422" r:id="rId18"/>
    <p:sldId id="3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lik.com/us/data-warehous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Data Warehousing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OLAP vs OLTP</a:t>
            </a:r>
          </a:p>
          <a:p>
            <a:r>
              <a:rPr lang="en-US" dirty="0"/>
              <a:t>Star and Snowflake Schema</a:t>
            </a:r>
          </a:p>
          <a:p>
            <a:r>
              <a:rPr lang="en-US" dirty="0"/>
              <a:t>Fact and Dimension Table</a:t>
            </a:r>
          </a:p>
          <a:p>
            <a:r>
              <a:rPr lang="en-US" dirty="0"/>
              <a:t>The ETL Process</a:t>
            </a:r>
          </a:p>
          <a:p>
            <a:r>
              <a:rPr lang="en-US" dirty="0"/>
              <a:t>Slow Changing Dimensions (SCD)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What is a Data Warehouse?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4037" y="2277373"/>
            <a:ext cx="6413021" cy="3488666"/>
          </a:xfrm>
        </p:spPr>
        <p:txBody>
          <a:bodyPr>
            <a:normAutofit/>
          </a:bodyPr>
          <a:lstStyle/>
          <a:p>
            <a:r>
              <a:rPr lang="en-US" dirty="0"/>
              <a:t>A Data Warehouse (DW) is a centralized repository for integrated data from multiple sources.</a:t>
            </a:r>
          </a:p>
          <a:p>
            <a:r>
              <a:rPr lang="en-US" dirty="0"/>
              <a:t>Optimized for </a:t>
            </a:r>
            <a:r>
              <a:rPr lang="en-US" b="1" u="sng" dirty="0">
                <a:solidFill>
                  <a:srgbClr val="00B050"/>
                </a:solidFill>
              </a:rPr>
              <a:t>query and analysis</a:t>
            </a:r>
            <a:r>
              <a:rPr lang="en-US" dirty="0"/>
              <a:t> rather than </a:t>
            </a:r>
            <a:r>
              <a:rPr lang="en-US" b="1" u="sng" dirty="0">
                <a:solidFill>
                  <a:schemeClr val="accent5">
                    <a:lumMod val="75000"/>
                  </a:schemeClr>
                </a:solidFill>
              </a:rPr>
              <a:t>transaction processing</a:t>
            </a:r>
            <a:r>
              <a:rPr lang="en-US" dirty="0"/>
              <a:t>.</a:t>
            </a:r>
          </a:p>
          <a:p>
            <a:r>
              <a:rPr lang="en-US" dirty="0"/>
              <a:t>Supports decision-making, reporting, and data mining.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3DE7C990-06CC-D06E-C699-53A1DE1B7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Warehouse (DW)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repository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integrated data from multiple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and analysis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transaction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mining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 descr="A diagram of data storage&#10;&#10;Description automatically generated">
            <a:extLst>
              <a:ext uri="{FF2B5EF4-FFF2-40B4-BE49-F238E27FC236}">
                <a16:creationId xmlns:a16="http://schemas.microsoft.com/office/drawing/2014/main" id="{BAF17F0D-C28B-F357-35FA-C9A5C89F6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542017"/>
            <a:ext cx="4557083" cy="2667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88848-C932-B740-2344-3AF378534669}"/>
              </a:ext>
            </a:extLst>
          </p:cNvPr>
          <p:cNvSpPr txBox="1"/>
          <p:nvPr/>
        </p:nvSpPr>
        <p:spPr>
          <a:xfrm>
            <a:off x="2652518" y="5327797"/>
            <a:ext cx="9539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According to William H. </a:t>
            </a:r>
            <a:r>
              <a:rPr lang="en-US" sz="2000" b="1" dirty="0" err="1">
                <a:solidFill>
                  <a:schemeClr val="bg1"/>
                </a:solidFill>
              </a:rPr>
              <a:t>Inmon</a:t>
            </a:r>
            <a:r>
              <a:rPr lang="en-US" sz="2000" b="1" dirty="0">
                <a:solidFill>
                  <a:schemeClr val="bg1"/>
                </a:solidFill>
              </a:rPr>
              <a:t>, a leading architect in construction of Data warehouse systems, “A data warehouse is a subject oriented, integrated, time-variant and nonvolatile” 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1C92-DADF-EF0A-D980-88D69667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0BB0-D5D3-29D3-A1B7-A406C52269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Subject-Oriented</a:t>
            </a:r>
          </a:p>
          <a:p>
            <a:r>
              <a:rPr lang="en-US" dirty="0"/>
              <a:t>Integrated</a:t>
            </a:r>
          </a:p>
          <a:p>
            <a:r>
              <a:rPr lang="en-US" dirty="0"/>
              <a:t>Non-volatile</a:t>
            </a:r>
          </a:p>
          <a:p>
            <a:r>
              <a:rPr lang="en-US" dirty="0"/>
              <a:t>Time-Variant</a:t>
            </a:r>
          </a:p>
        </p:txBody>
      </p:sp>
    </p:spTree>
    <p:extLst>
      <p:ext uri="{BB962C8B-B14F-4D97-AF65-F5344CB8AC3E}">
        <p14:creationId xmlns:p14="http://schemas.microsoft.com/office/powerpoint/2010/main" val="59525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08D9-F756-B954-488A-417B433F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Kimball Approach</a:t>
            </a:r>
          </a:p>
        </p:txBody>
      </p:sp>
      <p:pic>
        <p:nvPicPr>
          <p:cNvPr id="11" name="Content Placeholder 10" descr="A diagram of data quality&#10;&#10;Description automatically generated">
            <a:extLst>
              <a:ext uri="{FF2B5EF4-FFF2-40B4-BE49-F238E27FC236}">
                <a16:creationId xmlns:a16="http://schemas.microsoft.com/office/drawing/2014/main" id="{9CF4297C-C375-365D-18B1-E2D5950C23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30" y="2827693"/>
            <a:ext cx="7338497" cy="3021016"/>
          </a:xfrm>
        </p:spPr>
      </p:pic>
    </p:spTree>
    <p:extLst>
      <p:ext uri="{BB962C8B-B14F-4D97-AF65-F5344CB8AC3E}">
        <p14:creationId xmlns:p14="http://schemas.microsoft.com/office/powerpoint/2010/main" val="224460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C16F-E08B-839C-5F86-240903DA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OLAP vs OLTP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CCCF1F-620A-DD67-20A3-991BF55BEAB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11527648"/>
              </p:ext>
            </p:extLst>
          </p:nvPr>
        </p:nvGraphicFramePr>
        <p:xfrm>
          <a:off x="2708693" y="2588560"/>
          <a:ext cx="8419381" cy="392930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263637">
                  <a:extLst>
                    <a:ext uri="{9D8B030D-6E8A-4147-A177-3AD203B41FA5}">
                      <a16:colId xmlns:a16="http://schemas.microsoft.com/office/drawing/2014/main" val="2673682704"/>
                    </a:ext>
                  </a:extLst>
                </a:gridCol>
                <a:gridCol w="2783101">
                  <a:extLst>
                    <a:ext uri="{9D8B030D-6E8A-4147-A177-3AD203B41FA5}">
                      <a16:colId xmlns:a16="http://schemas.microsoft.com/office/drawing/2014/main" val="3673262904"/>
                    </a:ext>
                  </a:extLst>
                </a:gridCol>
                <a:gridCol w="2372643">
                  <a:extLst>
                    <a:ext uri="{9D8B030D-6E8A-4147-A177-3AD203B41FA5}">
                      <a16:colId xmlns:a16="http://schemas.microsoft.com/office/drawing/2014/main" val="3282021723"/>
                    </a:ext>
                  </a:extLst>
                </a:gridCol>
              </a:tblGrid>
              <a:tr h="2446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Criteria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OLAP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OLTP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1776611762"/>
                  </a:ext>
                </a:extLst>
              </a:tr>
              <a:tr h="489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OLAP helps you analyze large volumes of data to support decision-making.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OLTP helps you manage and process real-time transactions.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4116549812"/>
                  </a:ext>
                </a:extLst>
              </a:tr>
              <a:tr h="489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Data source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OLAP uses historical and aggregated data from multiple sources.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OLTP uses real-time and transactional data from a single source.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1109924689"/>
                  </a:ext>
                </a:extLst>
              </a:tr>
              <a:tr h="489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Data structure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OLAP uses multidimensional (cubes) or relational databases.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OLTP uses relational databases.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1293777138"/>
                  </a:ext>
                </a:extLst>
              </a:tr>
              <a:tr h="489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Data model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OLAP uses star schema, snowflake schema, or other analytical models.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OLTP mostly uses normalized models.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2724100674"/>
                  </a:ext>
                </a:extLst>
              </a:tr>
              <a:tr h="489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Example applications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solidFill>
                            <a:schemeClr val="bg1"/>
                          </a:solidFill>
                          <a:effectLst/>
                        </a:rPr>
                        <a:t>OLAP is good for analyzing trends, predicting customer behavior, and identifying profitability.</a:t>
                      </a: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OLTP is good for processing payments, customer data management, and order processing.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1850826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6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9014-8357-86ED-753B-47163760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ETL Process</a:t>
            </a:r>
          </a:p>
        </p:txBody>
      </p:sp>
      <p:pic>
        <p:nvPicPr>
          <p:cNvPr id="3074" name="Picture 2" descr="Diagram showing an ETL process: data from various sources is extracted and loaded into a central database, then analyzed, producing insights and visual reports.">
            <a:extLst>
              <a:ext uri="{FF2B5EF4-FFF2-40B4-BE49-F238E27FC236}">
                <a16:creationId xmlns:a16="http://schemas.microsoft.com/office/drawing/2014/main" id="{A9133D30-EC54-C0AF-309B-A8AD30CA07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547" y="1936180"/>
            <a:ext cx="7027301" cy="454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274E37-D5D3-3D2E-777E-7A20E56132CE}"/>
              </a:ext>
            </a:extLst>
          </p:cNvPr>
          <p:cNvSpPr txBox="1"/>
          <p:nvPr/>
        </p:nvSpPr>
        <p:spPr>
          <a:xfrm>
            <a:off x="4485737" y="6199554"/>
            <a:ext cx="628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https://www.qlik.com/us/data-warehouse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6537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801B-1CD3-0140-A69D-A3AE76EF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9426C"/>
                </a:solidFill>
                <a:effectLst/>
                <a:latin typeface="Inter"/>
              </a:rPr>
              <a:t>Data Warehouse vs Data Mart, Database, and Data Lake</a:t>
            </a:r>
            <a:endParaRPr lang="en-US" dirty="0"/>
          </a:p>
        </p:txBody>
      </p:sp>
      <p:pic>
        <p:nvPicPr>
          <p:cNvPr id="4098" name="Picture 2" descr="Flowchart depicting data extraction from SQL, NoSQL, SaaS, and XML sources to a data warehouse for transformation, leading to data marts (Purchasing, Sales, Finance, Inventory), then to analytics tools.">
            <a:extLst>
              <a:ext uri="{FF2B5EF4-FFF2-40B4-BE49-F238E27FC236}">
                <a16:creationId xmlns:a16="http://schemas.microsoft.com/office/drawing/2014/main" id="{555F4827-5A67-6AC6-40BF-48F54197D730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575" y="2272611"/>
            <a:ext cx="7314473" cy="4222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61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9B50-B904-2B16-042A-826CBD9D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and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0531B-D26A-2951-32D7-FB40C6CD11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A fact table is a table with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measures (column where you will perform an aggregation sum, …).</a:t>
            </a:r>
          </a:p>
          <a:p>
            <a:r>
              <a:rPr lang="en-US" dirty="0"/>
              <a:t>A dimension table contains </a:t>
            </a:r>
            <a:r>
              <a:rPr lang="en-US" b="1" dirty="0"/>
              <a:t>descriptive attributes</a:t>
            </a:r>
            <a:r>
              <a:rPr lang="en-US" dirty="0"/>
              <a:t> (context) related to the facts.</a:t>
            </a:r>
          </a:p>
        </p:txBody>
      </p:sp>
    </p:spTree>
    <p:extLst>
      <p:ext uri="{BB962C8B-B14F-4D97-AF65-F5344CB8AC3E}">
        <p14:creationId xmlns:p14="http://schemas.microsoft.com/office/powerpoint/2010/main" val="2658981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63D7-AF37-5C4C-9EFD-118723C1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in Data Warehouses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E3F40-C1C0-5E9B-074A-82AC2F199F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Database schemas define how data is organized within a database or data warehouse. </a:t>
            </a:r>
          </a:p>
          <a:p>
            <a:r>
              <a:rPr lang="en-US" dirty="0"/>
              <a:t>There are two main types of schema structures used in data warehouses: </a:t>
            </a:r>
          </a:p>
          <a:p>
            <a:pPr lvl="1"/>
            <a:r>
              <a:rPr lang="en-US" dirty="0"/>
              <a:t>the star schema and </a:t>
            </a:r>
          </a:p>
          <a:p>
            <a:pPr lvl="1"/>
            <a:r>
              <a:rPr lang="en-US" dirty="0"/>
              <a:t>the snowflake schema</a:t>
            </a:r>
          </a:p>
          <a:p>
            <a:r>
              <a:rPr lang="en-US" dirty="0"/>
              <a:t>Star and snowflake schema are both dimensional data models designed to optimize data retrieval speeds. </a:t>
            </a:r>
          </a:p>
          <a:p>
            <a:r>
              <a:rPr lang="en-US" dirty="0"/>
              <a:t>Dimensional models increase redundancy to make it easier to locate information for reporting and retrieval.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81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172C-9622-4C04-7EE1-531590E0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8B4D-0A10-AEAC-0C3C-3095CD6029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3306" y="2282008"/>
            <a:ext cx="9604794" cy="3699328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This schema consists of one fact table joined to dimension tables.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124" name="Picture 4" descr="Graphic depicting a star schema">
            <a:extLst>
              <a:ext uri="{FF2B5EF4-FFF2-40B4-BE49-F238E27FC236}">
                <a16:creationId xmlns:a16="http://schemas.microsoft.com/office/drawing/2014/main" id="{7B9BF557-420D-5A8A-A9BA-26FCB0A66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074" y="2782495"/>
            <a:ext cx="6858073" cy="385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279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3EA2-F567-9030-FE30-46EC707E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Snowflake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66CFB-C5F8-C770-D7F4-A8889A94DE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069" y="2282008"/>
            <a:ext cx="11054032" cy="3699328"/>
          </a:xfrm>
        </p:spPr>
        <p:txBody>
          <a:bodyPr/>
          <a:lstStyle/>
          <a:p>
            <a:r>
              <a:rPr lang="en-US" dirty="0"/>
              <a:t> In this case, the fact table is connected to several normalized dimension tables containing descriptive data about the facts in the central fact table.</a:t>
            </a:r>
          </a:p>
        </p:txBody>
      </p:sp>
      <p:pic>
        <p:nvPicPr>
          <p:cNvPr id="6146" name="Picture 2" descr="Graphic depicting a snowflake schema">
            <a:extLst>
              <a:ext uri="{FF2B5EF4-FFF2-40B4-BE49-F238E27FC236}">
                <a16:creationId xmlns:a16="http://schemas.microsoft.com/office/drawing/2014/main" id="{29747EB1-C91F-9AF0-92B5-2A523874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223" y="3097169"/>
            <a:ext cx="6507553" cy="365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220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635A-B761-708C-7F8D-A8CBF225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Changing Dimensions (SCD)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7F27C-BD1D-7A76-54F8-2B9ACC68B2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Slowly Changing Dimension (SCD) refers to a data management concept where the attributes of dimension tables change slowly over time, rather than frequently. </a:t>
            </a:r>
          </a:p>
          <a:p>
            <a:r>
              <a:rPr lang="en-US" dirty="0"/>
              <a:t>It's used to track changes in data that don't happen in real time but are still important to retain for historical analysis.</a:t>
            </a:r>
          </a:p>
        </p:txBody>
      </p:sp>
      <p:sp>
        <p:nvSpPr>
          <p:cNvPr id="5" name="AutoShape 4" descr="Slowly Changing Dimensions - GeeksforGeeks">
            <a:extLst>
              <a:ext uri="{FF2B5EF4-FFF2-40B4-BE49-F238E27FC236}">
                <a16:creationId xmlns:a16="http://schemas.microsoft.com/office/drawing/2014/main" id="{53693544-818A-575A-C752-EC3D19A8C1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51895" y="41316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4C147B-4619-F5B2-0371-E526358CD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06" y="4367882"/>
            <a:ext cx="3821237" cy="211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9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F92E-97CB-558E-19EE-70B9C10B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 Type 2</a:t>
            </a:r>
          </a:p>
        </p:txBody>
      </p:sp>
      <p:pic>
        <p:nvPicPr>
          <p:cNvPr id="8194" name="Picture 2" descr="Understanding Slowly Changing Dimensions">
            <a:extLst>
              <a:ext uri="{FF2B5EF4-FFF2-40B4-BE49-F238E27FC236}">
                <a16:creationId xmlns:a16="http://schemas.microsoft.com/office/drawing/2014/main" id="{7E55E33C-EC82-900C-84B3-706774BAB2FE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529" y="2691821"/>
            <a:ext cx="7810500" cy="308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768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BF4F5-62DF-2479-8F29-113656D3CA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{1A81568B-6932-4A2A-935B-AE8B97DB1EA5}TFd3b75063-ff25-434d-b12c-efeaf07d16c3292f62b5_win32-75a75c970d8e</Template>
  <TotalTime>66</TotalTime>
  <Words>508</Words>
  <Application>Microsoft Office PowerPoint</Application>
  <PresentationFormat>Widescreen</PresentationFormat>
  <Paragraphs>68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Franklin Gothic Book</vt:lpstr>
      <vt:lpstr>Franklin Gothic Demi</vt:lpstr>
      <vt:lpstr>IBM Plex Sans</vt:lpstr>
      <vt:lpstr>Inter</vt:lpstr>
      <vt:lpstr>Custom</vt:lpstr>
      <vt:lpstr>Data Warehousing</vt:lpstr>
      <vt:lpstr>Agenda</vt:lpstr>
      <vt:lpstr>What is a Data Warehouse?</vt:lpstr>
      <vt:lpstr>Characteristics of Warehouse</vt:lpstr>
      <vt:lpstr>The Kimball Approach</vt:lpstr>
      <vt:lpstr>OLAP vs OLTP</vt:lpstr>
      <vt:lpstr>ETL Process</vt:lpstr>
      <vt:lpstr>Data Warehouse vs Data Mart, Database, and Data Lake</vt:lpstr>
      <vt:lpstr>Fact and Dimensions</vt:lpstr>
      <vt:lpstr>Data Modeling in Data Warehouses</vt:lpstr>
      <vt:lpstr>Star Schema</vt:lpstr>
      <vt:lpstr>Snowflake Schema</vt:lpstr>
      <vt:lpstr>Slow Changing Dimensions (SCD)</vt:lpstr>
      <vt:lpstr>SCD Type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</dc:title>
  <dc:creator>Lenovo</dc:creator>
  <cp:lastModifiedBy>Lenovo</cp:lastModifiedBy>
  <cp:revision>19</cp:revision>
  <dcterms:created xsi:type="dcterms:W3CDTF">2025-07-24T23:06:45Z</dcterms:created>
  <dcterms:modified xsi:type="dcterms:W3CDTF">2025-07-25T00:12:46Z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